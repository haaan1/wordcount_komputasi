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Bold" charset="1" panose="00000800000000000000"/>
      <p:regular r:id="rId17"/>
    </p:embeddedFont>
    <p:embeddedFont>
      <p:font typeface="DM Sans" charset="1" panose="00000000000000000000"/>
      <p:regular r:id="rId18"/>
    </p:embeddedFont>
    <p:embeddedFont>
      <p:font typeface="Open Sans" charset="1" panose="020B06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jpe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744128" y="6172200"/>
            <a:ext cx="3543872" cy="4114800"/>
          </a:xfrm>
          <a:custGeom>
            <a:avLst/>
            <a:gdLst/>
            <a:ahLst/>
            <a:cxnLst/>
            <a:rect r="r" b="b" t="t" l="l"/>
            <a:pathLst>
              <a:path h="4114800" w="3543872">
                <a:moveTo>
                  <a:pt x="0" y="0"/>
                </a:moveTo>
                <a:lnTo>
                  <a:pt x="3543872" y="0"/>
                </a:lnTo>
                <a:lnTo>
                  <a:pt x="35438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617" y="-16987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87226" y="278767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7" y="0"/>
                </a:lnTo>
                <a:lnTo>
                  <a:pt x="2457677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34430" y="2739063"/>
            <a:ext cx="14412314" cy="28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4"/>
              </a:lnSpc>
            </a:pPr>
            <a:r>
              <a:rPr lang="en-US" b="true" sz="5464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IMPLEMENTASI DAN ANALISIS KINERJA WORD COURT PARALEL PADA DOKUMEN TEKS BESAR MENGGUNAKAN OPEN MP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71223" y="8816340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41984" y="6210300"/>
            <a:ext cx="7197206" cy="206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0"/>
              </a:lnSpc>
            </a:pPr>
            <a:r>
              <a:rPr lang="en-US" sz="37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Kelompok 1</a:t>
            </a:r>
          </a:p>
          <a:p>
            <a:pPr algn="ctr">
              <a:lnSpc>
                <a:spcPts val="4070"/>
              </a:lnSpc>
            </a:pPr>
            <a:r>
              <a:rPr lang="en-US" sz="37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Adinda Putri N R</a:t>
            </a:r>
          </a:p>
          <a:p>
            <a:pPr algn="ctr">
              <a:lnSpc>
                <a:spcPts val="4070"/>
              </a:lnSpc>
            </a:pPr>
            <a:r>
              <a:rPr lang="en-US" sz="37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Hana Fithri S</a:t>
            </a:r>
          </a:p>
          <a:p>
            <a:pPr algn="ctr">
              <a:lnSpc>
                <a:spcPts val="4070"/>
              </a:lnSpc>
            </a:pPr>
            <a:r>
              <a:rPr lang="en-US" sz="37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Xyla Syarifatuzzahra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20589" y="9389379"/>
            <a:ext cx="6839996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5"/>
              </a:lnSpc>
            </a:pPr>
            <a:r>
              <a:rPr lang="en-US" sz="2996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Komputasi Paralel dan Terdistribusi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9303" y="1714342"/>
            <a:ext cx="13929394" cy="847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8"/>
              </a:lnSpc>
            </a:pPr>
            <a:r>
              <a:rPr lang="en-US" b="true" sz="6378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OVERVIEW PROYEK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82478" y="2571750"/>
            <a:ext cx="14458664" cy="514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9"/>
              </a:lnSpc>
            </a:pPr>
            <a:r>
              <a:rPr lang="en-US" sz="37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Seiring dengan meningkatnya jumlah data teks digital seperti artikel, log sistem, dan dokumen daring, proses analisis teks menjadi semakin menantang.</a:t>
            </a:r>
          </a:p>
          <a:p>
            <a:pPr algn="just">
              <a:lnSpc>
                <a:spcPts val="4559"/>
              </a:lnSpc>
            </a:pPr>
            <a:r>
              <a:rPr lang="en-US" sz="37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Salah satu proses dasar dalam analisis teks adalah word count.</a:t>
            </a:r>
          </a:p>
          <a:p>
            <a:pPr algn="just">
              <a:lnSpc>
                <a:spcPts val="4559"/>
              </a:lnSpc>
            </a:pPr>
            <a:r>
              <a:rPr lang="en-US" sz="37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Jika dilakukan secara sekuensial, proses ini akan memakan waktu lama ketika ukuran data sangat besar.</a:t>
            </a:r>
          </a:p>
          <a:p>
            <a:pPr algn="just">
              <a:lnSpc>
                <a:spcPts val="4559"/>
              </a:lnSpc>
            </a:pPr>
            <a:r>
              <a:rPr lang="en-US" sz="37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Oleh karena itu, proyek ini bertujuan untuk mengimplementasikan word count secara paralel menggunakan OpenMP serta menganalisis peningkatan kinerjanya.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14177486" y="-4286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8" y="0"/>
                </a:lnTo>
                <a:lnTo>
                  <a:pt x="4106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250031" y="7021776"/>
            <a:ext cx="3543872" cy="4114800"/>
          </a:xfrm>
          <a:custGeom>
            <a:avLst/>
            <a:gdLst/>
            <a:ahLst/>
            <a:cxnLst/>
            <a:rect r="r" b="b" t="t" l="l"/>
            <a:pathLst>
              <a:path h="4114800" w="3543872">
                <a:moveTo>
                  <a:pt x="0" y="0"/>
                </a:moveTo>
                <a:lnTo>
                  <a:pt x="3543871" y="0"/>
                </a:lnTo>
                <a:lnTo>
                  <a:pt x="35438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84236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611958">
            <a:off x="15396473" y="7658553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6" y="0"/>
                </a:lnTo>
                <a:lnTo>
                  <a:pt x="2457676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9303" y="1714342"/>
            <a:ext cx="13929394" cy="847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8"/>
              </a:lnSpc>
            </a:pPr>
            <a:r>
              <a:rPr lang="en-US" b="true" sz="6378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PERMASALAHAN DAN SOLUSI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82478" y="3123960"/>
            <a:ext cx="14458664" cy="504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18"/>
              </a:lnSpc>
            </a:pPr>
            <a:r>
              <a:rPr lang="en-US" sz="4265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Permasalahan utama yang kami angkat adalah rendahnya performa word count sekuensial pada file teks berukuran besar karena hanya menggunakan satu core prosesor.</a:t>
            </a:r>
          </a:p>
          <a:p>
            <a:pPr algn="just">
              <a:lnSpc>
                <a:spcPts val="5118"/>
              </a:lnSpc>
            </a:pPr>
            <a:r>
              <a:rPr lang="en-US" sz="4265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Solusi yang kami tawarkan adalah memanfaatkan komputasi paralel menggunakan OpenMP, sehingga proses penghitungan kata dapat dibagi ke beberapa thread dan dijalankan secara bersamaan.</a:t>
            </a:r>
          </a:p>
          <a:p>
            <a:pPr algn="just">
              <a:lnSpc>
                <a:spcPts val="402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14177486" y="-4286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8" y="0"/>
                </a:lnTo>
                <a:lnTo>
                  <a:pt x="4106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250031" y="7021776"/>
            <a:ext cx="3543872" cy="4114800"/>
          </a:xfrm>
          <a:custGeom>
            <a:avLst/>
            <a:gdLst/>
            <a:ahLst/>
            <a:cxnLst/>
            <a:rect r="r" b="b" t="t" l="l"/>
            <a:pathLst>
              <a:path h="4114800" w="3543872">
                <a:moveTo>
                  <a:pt x="0" y="0"/>
                </a:moveTo>
                <a:lnTo>
                  <a:pt x="3543871" y="0"/>
                </a:lnTo>
                <a:lnTo>
                  <a:pt x="35438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84236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611958">
            <a:off x="15396473" y="7658553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6" y="0"/>
                </a:lnTo>
                <a:lnTo>
                  <a:pt x="2457676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0754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64066" y="7043014"/>
            <a:ext cx="4135477" cy="4114800"/>
          </a:xfrm>
          <a:custGeom>
            <a:avLst/>
            <a:gdLst/>
            <a:ahLst/>
            <a:cxnLst/>
            <a:rect r="r" b="b" t="t" l="l"/>
            <a:pathLst>
              <a:path h="4114800" w="4135477">
                <a:moveTo>
                  <a:pt x="0" y="0"/>
                </a:moveTo>
                <a:lnTo>
                  <a:pt x="4135477" y="0"/>
                </a:lnTo>
                <a:lnTo>
                  <a:pt x="4135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54736" y="3449159"/>
            <a:ext cx="15178527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9"/>
              </a:lnSpc>
            </a:pPr>
            <a:r>
              <a:rPr lang="en-US" sz="37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Pada desain solusi, kami membandingkan dua pendekatan.</a:t>
            </a:r>
          </a:p>
          <a:p>
            <a:pPr algn="just">
              <a:lnSpc>
                <a:spcPts val="4559"/>
              </a:lnSpc>
            </a:pPr>
            <a:r>
              <a:rPr lang="en-US" sz="37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Pendekatan pertama adalah versi sekuensial, di mana file dibaca karakter per karakter untuk mendeteksi batas kata.</a:t>
            </a:r>
          </a:p>
          <a:p>
            <a:pPr algn="just">
              <a:lnSpc>
                <a:spcPts val="4559"/>
              </a:lnSpc>
            </a:pPr>
            <a:r>
              <a:rPr lang="en-US" sz="37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Pendekatan kedua adalah versi paralel menggunakan OpenMP.</a:t>
            </a:r>
          </a:p>
          <a:p>
            <a:pPr algn="just">
              <a:lnSpc>
                <a:spcPts val="4559"/>
              </a:lnSpc>
            </a:pPr>
            <a:r>
              <a:rPr lang="en-US" sz="37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Pada versi ini, data teks dibagi ke beberapa thread, dan setiap thread menghitung jumlah kata pada bagiannya masing-masing, kemudian hasilnya digabungkan menggunakan mekanisme reduction.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05995" y="2077268"/>
            <a:ext cx="12153305" cy="95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1"/>
              </a:lnSpc>
            </a:pPr>
            <a:r>
              <a:rPr lang="en-US" b="true" sz="7101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DESAIN SOLUSI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494117" y="7043014"/>
            <a:ext cx="2793883" cy="3243986"/>
          </a:xfrm>
          <a:custGeom>
            <a:avLst/>
            <a:gdLst/>
            <a:ahLst/>
            <a:cxnLst/>
            <a:rect r="r" b="b" t="t" l="l"/>
            <a:pathLst>
              <a:path h="3243986" w="2793883">
                <a:moveTo>
                  <a:pt x="0" y="0"/>
                </a:moveTo>
                <a:lnTo>
                  <a:pt x="2793883" y="0"/>
                </a:lnTo>
                <a:lnTo>
                  <a:pt x="2793883" y="3243986"/>
                </a:lnTo>
                <a:lnTo>
                  <a:pt x="0" y="3243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7114" y="1432445"/>
            <a:ext cx="11953772" cy="63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8"/>
              </a:lnSpc>
            </a:pPr>
            <a:r>
              <a:rPr lang="en-US" b="true" sz="4888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TEKNOLOGI DAN KONFIGURASI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89022" y="2632869"/>
            <a:ext cx="12731864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9"/>
              </a:lnSpc>
            </a:pPr>
            <a:r>
              <a:rPr lang="en-US" sz="37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Proyek ini diimplementasikan menggunakan bahasa pemrograman C dengan library OpenMP.</a:t>
            </a:r>
          </a:p>
          <a:p>
            <a:pPr algn="just">
              <a:lnSpc>
                <a:spcPts val="4559"/>
              </a:lnSpc>
            </a:pPr>
            <a:r>
              <a:rPr lang="en-US" sz="37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Pengujian dilakukan pada sistem operasi Windows 11 dengan prosesor 8 core dan RAM 8 GB.</a:t>
            </a:r>
          </a:p>
          <a:p>
            <a:pPr algn="just">
              <a:lnSpc>
                <a:spcPts val="4559"/>
              </a:lnSpc>
            </a:pPr>
            <a:r>
              <a:rPr lang="en-US" sz="37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Dataset yang digunakan adalah file teks WikipediaDatabase.txt dengan ukuran sekitar 170 MB, sehingga cukup representatif untuk menguji performa komputasi paralel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0617" y="-16987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87226" y="278767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7" y="0"/>
                </a:lnTo>
                <a:lnTo>
                  <a:pt x="2457677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3640680" y="5262870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190" y="8713836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7114" y="1432445"/>
            <a:ext cx="11953772" cy="63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8"/>
              </a:lnSpc>
            </a:pPr>
            <a:r>
              <a:rPr lang="en-US" b="true" sz="4888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 SINGKAT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89022" y="2632869"/>
            <a:ext cx="12731864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9"/>
              </a:lnSpc>
            </a:pPr>
            <a:r>
              <a:rPr lang="en-US" sz="37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Pada bagian demo, program dikompilasi menggunakan compiler GCC dengan flag OpenMP.</a:t>
            </a:r>
          </a:p>
          <a:p>
            <a:pPr algn="just">
              <a:lnSpc>
                <a:spcPts val="4559"/>
              </a:lnSpc>
            </a:pPr>
            <a:r>
              <a:rPr lang="en-US" sz="37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Kemudian program dijalankan dengan jumlah thread yang berbeda.</a:t>
            </a:r>
          </a:p>
          <a:p>
            <a:pPr algn="just">
              <a:lnSpc>
                <a:spcPts val="4559"/>
              </a:lnSpc>
            </a:pPr>
            <a:r>
              <a:rPr lang="en-US" sz="37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Hasil output menunjukkan bahwa jumlah kata yang dihasilkan konsisten antara versi sekuensial dan paralel, yaitu sekitar 29 juta kata, yang menandakan bahwa implementasi paralel tetap akurat.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0617" y="-16987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87226" y="278767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7" y="0"/>
                </a:lnTo>
                <a:lnTo>
                  <a:pt x="2457677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3640680" y="5262870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190" y="8713836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7114" y="1432445"/>
            <a:ext cx="11953772" cy="63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8"/>
              </a:lnSpc>
            </a:pPr>
            <a:r>
              <a:rPr lang="en-US" b="true" sz="4888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HASIL KINERJA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0617" y="-16987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87226" y="278767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7" y="0"/>
                </a:lnTo>
                <a:lnTo>
                  <a:pt x="2457677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640680" y="5262870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617" y="9258300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58105" y="2071109"/>
            <a:ext cx="12571790" cy="4601750"/>
          </a:xfrm>
          <a:custGeom>
            <a:avLst/>
            <a:gdLst/>
            <a:ahLst/>
            <a:cxnLst/>
            <a:rect r="r" b="b" t="t" l="l"/>
            <a:pathLst>
              <a:path h="4601750" w="12571790">
                <a:moveTo>
                  <a:pt x="0" y="0"/>
                </a:moveTo>
                <a:lnTo>
                  <a:pt x="12571790" y="0"/>
                </a:lnTo>
                <a:lnTo>
                  <a:pt x="12571790" y="4601749"/>
                </a:lnTo>
                <a:lnTo>
                  <a:pt x="0" y="46017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63145" y="6542261"/>
            <a:ext cx="14401195" cy="240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71"/>
              </a:lnSpc>
            </a:pPr>
            <a:r>
              <a:rPr lang="en-US" sz="27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Tabel ini menunjukkan hasil pengujian performa berdasarkan jumlah thread.</a:t>
            </a:r>
          </a:p>
          <a:p>
            <a:pPr algn="just">
              <a:lnSpc>
                <a:spcPts val="3871"/>
              </a:lnSpc>
            </a:pPr>
            <a:r>
              <a:rPr lang="en-US" sz="27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Terlihat bahwa waktu eksekusi menurun secara signifikan ketika jumlah thread ditingkatkan hingga 8 thread.</a:t>
            </a:r>
          </a:p>
          <a:p>
            <a:pPr algn="just">
              <a:lnSpc>
                <a:spcPts val="3871"/>
              </a:lnSpc>
            </a:pPr>
            <a:r>
              <a:rPr lang="en-US" sz="27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Speedup meningkat seiring bertambahnya thread, namun nilai efficiency mulai menurun pada jumlah thread yang lebih besar karena adanya overhead paralelisasi.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35541" y="2390057"/>
            <a:ext cx="11953772" cy="72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8"/>
              </a:lnSpc>
            </a:pPr>
            <a:r>
              <a:rPr lang="en-US" b="true" sz="5488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PEMBAHASAN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0617" y="-16987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87226" y="278767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7" y="0"/>
                </a:lnTo>
                <a:lnTo>
                  <a:pt x="2457677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640680" y="5262870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617" y="9258300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11829" y="3431100"/>
            <a:ext cx="14401195" cy="335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31"/>
              </a:lnSpc>
            </a:pPr>
            <a:r>
              <a:rPr lang="en-US" sz="31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31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ari hasil pengujian, dapat disimpulkan bahwa word count merupakan kasus yang cocok untuk data parallelism.</a:t>
            </a:r>
          </a:p>
          <a:p>
            <a:pPr algn="just">
              <a:lnSpc>
                <a:spcPts val="4431"/>
              </a:lnSpc>
            </a:pPr>
            <a:r>
              <a:rPr lang="en-US" sz="31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Namun, penambahan jumlah thread tidak selalu menghasilkan peningkatan performa yang signifikan.</a:t>
            </a:r>
          </a:p>
          <a:p>
            <a:pPr algn="just">
              <a:lnSpc>
                <a:spcPts val="4431"/>
              </a:lnSpc>
            </a:pPr>
            <a:r>
              <a:rPr lang="en-US" sz="31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Overhead seperti sinkronisasi thread, kontensi memori, dan batas jumlah core fisik menjadi faktor pembatas performa.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35541" y="2390057"/>
            <a:ext cx="11953772" cy="72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8"/>
              </a:lnSpc>
            </a:pPr>
            <a:r>
              <a:rPr lang="en-US" b="true" sz="5488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LESSONS LEARNED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0617" y="-16987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87226" y="278767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7" y="0"/>
                </a:lnTo>
                <a:lnTo>
                  <a:pt x="2457677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640680" y="5262870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617" y="9258300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1260" y="3216480"/>
            <a:ext cx="14945479" cy="401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30"/>
              </a:lnSpc>
            </a:pPr>
            <a:r>
              <a:rPr lang="en-US" sz="38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Bebe</a:t>
            </a:r>
            <a:r>
              <a:rPr lang="en-US" sz="38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rapa pelajaran penting yang kami peroleh adalah bahwa OpenMP sangat mudah digunakan untuk paralelisasi program C.</a:t>
            </a:r>
          </a:p>
          <a:p>
            <a:pPr algn="just">
              <a:lnSpc>
                <a:spcPts val="5330"/>
              </a:lnSpc>
            </a:pPr>
            <a:r>
              <a:rPr lang="en-US" sz="38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Penggunaan reduction sangat penting untuk menjaga keakuratan hasil.</a:t>
            </a:r>
          </a:p>
          <a:p>
            <a:pPr algn="just">
              <a:lnSpc>
                <a:spcPts val="5330"/>
              </a:lnSpc>
            </a:pPr>
            <a:r>
              <a:rPr lang="en-US" sz="38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Selain itu, kami belajar bahwa komputasi paralel tidak selalu bersifat linear dan harus disesuaikan dengan karakteristik sistem.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35541" y="2390057"/>
            <a:ext cx="11953772" cy="72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8"/>
              </a:lnSpc>
            </a:pPr>
            <a:r>
              <a:rPr lang="en-US" b="true" sz="5488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KESIMPULAN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0617" y="-16987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87226" y="278767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7" y="0"/>
                </a:lnTo>
                <a:lnTo>
                  <a:pt x="2457677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640680" y="5262870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617" y="9258300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1260" y="3216480"/>
            <a:ext cx="14945479" cy="5362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30"/>
              </a:lnSpc>
            </a:pPr>
            <a:r>
              <a:rPr lang="en-US" sz="38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Seb</a:t>
            </a:r>
            <a:r>
              <a:rPr lang="en-US" sz="38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agai kesimpulan, implementasi OpenMP terbukti mampu mempercepat proses word count secara signifikan.</a:t>
            </a:r>
          </a:p>
          <a:p>
            <a:pPr algn="just">
              <a:lnSpc>
                <a:spcPts val="5330"/>
              </a:lnSpc>
            </a:pPr>
            <a:r>
              <a:rPr lang="en-US" sz="38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Performa terbaik diperoleh pada penggunaan 8 thread.</a:t>
            </a:r>
          </a:p>
          <a:p>
            <a:pPr algn="just">
              <a:lnSpc>
                <a:spcPts val="5330"/>
              </a:lnSpc>
            </a:pPr>
            <a:r>
              <a:rPr lang="en-US" sz="38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Namun, efisiensi menurun ketika jumlah thread terlalu banyak akibat overhead.</a:t>
            </a:r>
          </a:p>
          <a:p>
            <a:pPr algn="just">
              <a:lnSpc>
                <a:spcPts val="5330"/>
              </a:lnSpc>
            </a:pPr>
            <a:r>
              <a:rPr lang="en-US" sz="38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 depannya, proyek ini dapat dikembangkan dengan menggabungkan OpenMP dan MPI atau menghitung frekuensi kata, bukan hanya jumlah kata.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33915" y="4208460"/>
            <a:ext cx="10620170" cy="1638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99"/>
              </a:lnSpc>
            </a:pPr>
            <a:r>
              <a:rPr lang="en-US" b="true" sz="12399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004548" y="6644568"/>
            <a:ext cx="5931354" cy="358353"/>
          </a:xfrm>
          <a:custGeom>
            <a:avLst/>
            <a:gdLst/>
            <a:ahLst/>
            <a:cxnLst/>
            <a:rect r="r" b="b" t="t" l="l"/>
            <a:pathLst>
              <a:path h="358353" w="5931354">
                <a:moveTo>
                  <a:pt x="0" y="0"/>
                </a:moveTo>
                <a:lnTo>
                  <a:pt x="5931354" y="0"/>
                </a:lnTo>
                <a:lnTo>
                  <a:pt x="5931354" y="358352"/>
                </a:lnTo>
                <a:lnTo>
                  <a:pt x="0" y="35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617" y="-16987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81438" y="6304600"/>
            <a:ext cx="5297854" cy="5271365"/>
          </a:xfrm>
          <a:custGeom>
            <a:avLst/>
            <a:gdLst/>
            <a:ahLst/>
            <a:cxnLst/>
            <a:rect r="r" b="b" t="t" l="l"/>
            <a:pathLst>
              <a:path h="5271365" w="5297854">
                <a:moveTo>
                  <a:pt x="0" y="0"/>
                </a:moveTo>
                <a:lnTo>
                  <a:pt x="5297854" y="0"/>
                </a:lnTo>
                <a:lnTo>
                  <a:pt x="5297854" y="5271365"/>
                </a:lnTo>
                <a:lnTo>
                  <a:pt x="0" y="52713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DAG-STTyFkk</dc:identifier>
  <dcterms:modified xsi:type="dcterms:W3CDTF">2011-08-01T06:04:30Z</dcterms:modified>
  <cp:revision>1</cp:revision>
  <dc:title>KELOMPOK 1</dc:title>
</cp:coreProperties>
</file>